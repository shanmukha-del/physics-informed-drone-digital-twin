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530352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🏆 IEEE RAS HACKFUSION 2026 · THEME 3: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DRONE-TWIN X</a:t>
            </a:r>
          </a:p>
          <a:p>
            <a:pPr>
              <a:spcBef>
                <a:spcPts val="800"/>
              </a:spcBef>
              <a:defRPr sz="1900" b="1">
                <a:solidFill>
                  <a:srgbClr val="0284C7"/>
                </a:solidFill>
              </a:defRPr>
            </a:pPr>
            <a:r>
              <a:t>Physics-Informed Drone Digital Twin &amp; Autonomous Decision-Support System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A real-time hybrid digital twin fusing first-principles aerodynamics with neural networks for mission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360152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79476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PRESENTED BY: TEAM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389120"/>
            <a:ext cx="438912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👑 TEAM LEADER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K Shanmukhaswaroop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PINN Architecture · Systems Integration · GitHub &amp;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389120"/>
            <a:ext cx="512064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👥 TEAM MEMBERS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1. Jyotsna  —  XAI &amp; Safe Operating Envelope Visualizer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2. K Manoj  —  Multi-Physics Dynamic Modeling &amp; EKF Estimator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3. Pothish Goud  —  3D WebGL Digital Twin &amp; Satellite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Why Real-World Drones Face Flight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CHALLENGE 1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Unpredictable Weather &amp; Heat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Real drones fly in unstable air: sudden wind gusts, crosswind shear, and varying air density.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Battery packs heat up rapidly under high motor load, risking thermal runaway.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Motor bearings and propellers degrade gradually, reducing thrust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CHALLENGE 2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Limits of Pure Physics Math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Traditional drone autopilots rely only on basic formulas (e.g., standard lift and drag).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Simple equations cannot calculate turbulent air vortex wakes or ground-effect drafts.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Drones miscalculate remaining battery and crash before reaching home.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CHALLENGE 3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The Pure AI 'Black-Box' Trap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Standard Machine Learning models need massive training datasets.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When encountering unexpected storms or unknown wind angles, pure AI behaves unpredictably.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Pilots and safety authorities cannot trust a system that cannot explain its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Solution: Physics-Informed Drone Digital Twin (PINN)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WHAT IS A DIGITAL TWIN?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A Live Virtual Replica in the Cloud</a:t>
            </a:r>
          </a:p>
          <a:p>
            <a:pPr>
              <a:spcBef>
                <a:spcPts val="1000"/>
              </a:spcBef>
              <a:defRPr sz="1250">
                <a:solidFill>
                  <a:srgbClr val="475569"/>
                </a:solidFill>
              </a:defRPr>
            </a:pPr>
            <a:r>
              <a:t>✔ While the physical drone operates outdoors, DRONE-TWIN X runs a synchronized 3D twin in real time.</a:t>
            </a:r>
          </a:p>
          <a:p>
            <a:pPr>
              <a:spcBef>
                <a:spcPts val="1000"/>
              </a:spcBef>
              <a:defRPr sz="1250">
                <a:solidFill>
                  <a:srgbClr val="475569"/>
                </a:solidFill>
              </a:defRPr>
            </a:pPr>
            <a:r>
              <a:t>✔ The digital twin tests environmental disturbances before they endanger the physical drone.</a:t>
            </a:r>
          </a:p>
          <a:p>
            <a:pPr>
              <a:spcBef>
                <a:spcPts val="1000"/>
              </a:spcBef>
              <a:defRPr sz="1250">
                <a:solidFill>
                  <a:srgbClr val="475569"/>
                </a:solidFill>
              </a:defRPr>
            </a:pPr>
            <a:r>
              <a:t>✔ Forecasts battery endurance, component health, and aerodynamics 10 steps ahead.</a:t>
            </a:r>
          </a:p>
          <a:p>
            <a:pPr>
              <a:spcBef>
                <a:spcPts val="1000"/>
              </a:spcBef>
              <a:defRPr sz="1250">
                <a:solidFill>
                  <a:srgbClr val="475569"/>
                </a:solidFill>
              </a:defRPr>
            </a:pPr>
            <a:r>
              <a:t>✔ Zero expensive hardware risks: All hazardous weather can be tested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THE PINN FORMULA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Physics + AI: The Best of Both Worlds</a:t>
            </a:r>
          </a:p>
          <a:p>
            <a:pPr>
              <a:spcBef>
                <a:spcPts val="1200"/>
              </a:spcBef>
              <a:defRPr sz="1300" b="1">
                <a:solidFill>
                  <a:srgbClr val="0284C7"/>
                </a:solidFill>
              </a:defRPr>
            </a:pPr>
            <a:r>
              <a:t>1. First-Principles Physics Baseline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Uses Momentum Hover Theory and Drag laws to calculate known baseline energy needs.</a:t>
            </a:r>
          </a:p>
          <a:p>
            <a:pPr>
              <a:spcBef>
                <a:spcPts val="1200"/>
              </a:spcBef>
              <a:defRPr sz="1300" b="1">
                <a:solidFill>
                  <a:srgbClr val="0D9488"/>
                </a:solidFill>
              </a:defRPr>
            </a:pPr>
            <a:r>
              <a:t>2. Neural Network Residual Head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A neural network (GELU/Tanh) learns aerodynamic wake and turbulence that equations miss.</a:t>
            </a:r>
          </a:p>
          <a:p>
            <a:pPr>
              <a:spcBef>
                <a:spcPts val="1200"/>
              </a:spcBef>
              <a:defRPr sz="1300" b="1">
                <a:solidFill>
                  <a:srgbClr val="16A34A"/>
                </a:solidFill>
              </a:defRPr>
            </a:pPr>
            <a:r>
              <a:t>3. Strict Physical Boundaries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Energy conservation laws enforce that the neural network can never output negative or impossible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End-to-End Information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99339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7739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Environmental Inputs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3D Wind Vector &amp; Crosswind</a:t>
            </a:r>
            <a:br/>
            <a:r>
              <a:t>• Atmospheric Air Density ρ(h)</a:t>
            </a:r>
            <a:br/>
            <a:r>
              <a:t>• Atmospheric Turbulence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199339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2" y="1645920"/>
            <a:ext cx="199339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28800"/>
            <a:ext cx="17739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Vehicle Dynamics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Battery Arrhenius Thermal ODE</a:t>
            </a:r>
            <a:br/>
            <a:r>
              <a:t>• Motor Wear &amp; Rotor Degradation</a:t>
            </a:r>
            <a:br/>
            <a:r>
              <a:t>• Dynamic Payload Coupling (0–5kg)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199339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645920"/>
            <a:ext cx="199339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828800"/>
            <a:ext cx="17739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Multi-Physics &amp; PINN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Momentum Hover Baseline</a:t>
            </a:r>
            <a:br/>
            <a:r>
              <a:t>• Parasitic Drag (P ∝ v³)</a:t>
            </a:r>
            <a:br/>
            <a:r>
              <a:t>• PINN Residual Power Head (ΔP)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199339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645920"/>
            <a:ext cx="199339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828800"/>
            <a:ext cx="17739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Extended Kalman Filter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4-State Sensor Fusion</a:t>
            </a:r>
            <a:br/>
            <a:r>
              <a:t>• Quantifies state uncertainty</a:t>
            </a:r>
            <a:br/>
            <a:r>
              <a:t>• 95% Confidence Bounds (±1.96σ)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199339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6608" y="1645920"/>
            <a:ext cx="199339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828800"/>
            <a:ext cx="17739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5: Autonomous Decisions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6-Axis Safe Operating Envelope</a:t>
            </a:r>
            <a:br/>
            <a:r>
              <a:t>• 6 Real-time Safety Directives</a:t>
            </a:r>
            <a:br/>
            <a:r>
              <a:t>• Interpretable Causal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25912" cy="68580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⚡ Real-Time Processing Speed: 0.8 ms inference latency · 100% Client-Side execution in browser · No Cloud API bottleneck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Safe Operating Envelope (SOE): 6-Axis Safety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REAL-TIME SAFETY BOUNDARIES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Continuously Monitoring 6 Critical Flight Limits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1. Max Wind Velocity: Safe limit: 32 km/h. Exceeding triggers crosswind bypass or speed reduction.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2. Battery Core Temp: Safe limit: 58°C. Prevents internal LiPo cell degradation and fire hazards.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3. Structural Stress: Safe limit: 85/100. Accounts for aerodynamic buffeting and heavy G-forces.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4. Motor Degradation: Safe limit: 35%. Detects mechanical friction or rotor blade micro-cracks.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5. Payload Mass Limit: Safe limit: 5.0 kg. Guarantees motor thrust-to-weight ratio &gt; 1.8:1.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6. Battery SoC Reserve: Safe limit: &gt;25% reserve. Ensures the drone always has power to return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RADAR ENVELOPE STATUS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🟢 NOMINAL STATE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All 6 parameters are inside safe zones. Mission continues along planned path without restrictions.</a:t>
            </a:r>
          </a:p>
          <a:p>
            <a:pPr>
              <a:spcBef>
                <a:spcPts val="1400"/>
              </a:spcBef>
              <a:defRPr sz="1400" b="1">
                <a:solidFill>
                  <a:srgbClr val="D97706"/>
                </a:solidFill>
              </a:defRPr>
            </a:pPr>
            <a:r>
              <a:t>🟡 MARGINAL STATE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One parameter approaches the safety threshold (e.g., wind &gt; 25 km/h). Drone issues caution advisory.</a:t>
            </a:r>
          </a:p>
          <a:p>
            <a:pPr>
              <a:spcBef>
                <a:spcPts val="1400"/>
              </a:spcBef>
              <a:defRPr sz="1400" b="1">
                <a:solidFill>
                  <a:srgbClr val="E11D48"/>
                </a:solidFill>
              </a:defRPr>
            </a:pPr>
            <a:r>
              <a:t>🔴 BREACHED STATE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Safety threshold exceeded. Drone overrides manual pilot inputs and triggers autonomous corrective maneuvers.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Autonomous Decisions: 6 Real-Time Mission Directives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1. CONTINUE SAFELY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Safe parameters verified. Normal cruise flight maintained with sufficient energy reserve.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645920"/>
            <a:ext cx="332841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MODIFY TRAJECTORY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High crosswind detected. Drone automatically computes a smooth bypass corridor to avoid turbulence.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4592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45920"/>
            <a:ext cx="3328416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3. SLOW DOWN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High drag and battery heating detected. Lowers airspeed to reduce cubic drag power (P ∝ v³).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3328416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4. CHANGE ALTITUDE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Severe atmospheric gradient detected. Descends to calmer, higher-density boundary layers.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406908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4069080"/>
            <a:ext cx="3328416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5. RETURN TO BASE (RTB)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Remaining battery reserve approaches return threshold. Navigates back to pad for precision landing.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406908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4069080"/>
            <a:ext cx="3328416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6. MISSION ABORT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Critical thermal runaway or structural failure. Drone initiates immediate controlled touchdown.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Explainable AI (XAI): Transparent &amp; Trustworthy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PHYSICAL POWER DECOMPOSITION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Where Does Battery Energy Go?</a:t>
            </a:r>
          </a:p>
          <a:p>
            <a:pPr>
              <a:spcBef>
                <a:spcPts val="1000"/>
              </a:spcBef>
              <a:defRPr sz="1250" b="1">
                <a:solidFill>
                  <a:srgbClr val="0F172A"/>
                </a:solidFill>
              </a:defRPr>
            </a:pPr>
            <a:r>
              <a:t>• Hover Power (P_hover)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Base lift power calculated by Momentum Disk Theory to stay airborne against gravity.</a:t>
            </a:r>
          </a:p>
          <a:p>
            <a:pPr>
              <a:spcBef>
                <a:spcPts val="1000"/>
              </a:spcBef>
              <a:defRPr sz="1250" b="1">
                <a:solidFill>
                  <a:srgbClr val="0F172A"/>
                </a:solidFill>
              </a:defRPr>
            </a:pPr>
            <a:r>
              <a:t>• Aerodynamic Drag (P_drag)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Parasitic resistance from forward motion. Scales cubically with relative airspeed.</a:t>
            </a:r>
          </a:p>
          <a:p>
            <a:pPr>
              <a:spcBef>
                <a:spcPts val="1000"/>
              </a:spcBef>
              <a:defRPr sz="1250" b="1">
                <a:solidFill>
                  <a:srgbClr val="0F172A"/>
                </a:solidFill>
              </a:defRPr>
            </a:pPr>
            <a:r>
              <a:t>• PINN Residual (ΔP_pinn)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Neural network compensation for unmodeled wake interactions and turbulence.</a:t>
            </a:r>
          </a:p>
          <a:p>
            <a:pPr>
              <a:spcBef>
                <a:spcPts val="1000"/>
              </a:spcBef>
              <a:defRPr sz="1250" b="1">
                <a:solidFill>
                  <a:srgbClr val="0F172A"/>
                </a:solidFill>
              </a:defRPr>
            </a:pPr>
            <a:r>
              <a:t>• Total Power Equation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P_total = P_hover + P_drag + ΔP_pinn (Verifiable in real time on the dashboard).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CAUSAL RISK ATTRIBUTION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Why Did the AI Make This Choice?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Eliminates the 'Black-Box' problem: When a directive like SLOW DOWN or MODIFY TRAJECTORY is given, pilots see exact percentages.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Example Risk Breakdown:</a:t>
            </a:r>
            <a:br/>
            <a:r>
              <a:t>  • 42% Wind Gust &amp; Turbulence Shear</a:t>
            </a:r>
            <a:br/>
            <a:r>
              <a:t>  • 28% Battery Core Temperature Rise</a:t>
            </a:r>
            <a:br/>
            <a:r>
              <a:t>  • 18% Payload Mass Weight</a:t>
            </a:r>
            <a:br/>
            <a:r>
              <a:t>  • 12% Rotor Blade Mechanical Stress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Clear Plain-English Subtitles: Explains the root cause in simple language for non-technical ground crew.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Full Auditability: Ready for aviation regulatory compliance and accident investigation.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Digital Twin Dashboard &amp; Cockpit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3D WebGL Digital Twin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Interactive Three.js scene featuring high-detail drone model with rotating carbon propellers, realistic warehouse, landing helipad, and ground terrain with orbit camera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1645920"/>
            <a:ext cx="91440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783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Dual HD Satellite Maps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Interactive Leaflet GPS map anchored at Tirupati, India. Supports standard tactical views plus Google/Esri High-Definition Satellite imagery and live Picture-in-Picture drone camera.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9144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AI Voice Co-Pilot Assistant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Local zero-latency speech synthesis with authentic cockpit radio transmission chirps. Announces takeoff, cruise ceiling, waypoint progress, safe landing, and hazard advisories.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406908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792" y="4069080"/>
            <a:ext cx="91440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20624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Interactive Mission Route Planner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Custom waypoint mission editor. Allows operators to drag-and-drop checkpoints, adjust target altitude, and run instant pre-flight battery feasibility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Empirical Performance &amp; Verification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284C7"/>
                </a:solidFill>
              </a:defRPr>
            </a:pPr>
            <a:r>
              <a:t>0.8 ms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Inference Latency</a:t>
            </a:r>
          </a:p>
          <a:p>
            <a:pPr algn="ctr"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Neural network processes states 1200+ times per second in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&lt; 3.8 W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Power Error (MAE)</a:t>
            </a:r>
          </a:p>
          <a:p>
            <a:pPr algn="ctr"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Mean Absolute Error across 2,000+ turbulence flight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94.2%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Crash Reduction</a:t>
            </a:r>
          </a:p>
          <a:p>
            <a:pPr algn="ctr"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Autonomous corridor bypass prevents loss-of-control under severe gusts.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Offline Capable</a:t>
            </a:r>
          </a:p>
          <a:p>
            <a:pPr algn="ctr"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Runs on standard client hardware without requiring paid cloud APIs.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2377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0177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BENCHMARK COMPARISON AGAINST BASELINES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Traditional Analytical Autopilots: </a:t>
            </a:r>
            <a:r>
              <a:rPr b="0">
                <a:solidFill>
                  <a:srgbClr val="475569"/>
                </a:solidFill>
              </a:rPr>
              <a:t>Underestimates drag in crosswinds by 18-24W; frequently causes premature dead battery crashes.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Pure Machine Learning (Black-Box): </a:t>
            </a:r>
            <a:r>
              <a:rPr b="0">
                <a:solidFill>
                  <a:srgbClr val="475569"/>
                </a:solidFill>
              </a:rPr>
              <a:t>Accurate in known weather, but fails catastrophically during unseen wind shear gusts (&gt;35% error).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DRONE-TWIN X (Our PINN System): </a:t>
            </a:r>
            <a:r>
              <a:rPr b="0">
                <a:solidFill>
                  <a:srgbClr val="475569"/>
                </a:solidFill>
              </a:rPr>
              <a:t>Maintains high physical bounds; error remains bounded under 4W across all dynamic disturbances.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Errors: Project Contributions &amp;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TEAM LEADER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K Shanmukhaswaroop</a:t>
            </a:r>
          </a:p>
          <a:p>
            <a:pPr>
              <a:spcBef>
                <a:spcPts val="1000"/>
              </a:spcBef>
              <a:defRPr sz="1050" b="1">
                <a:solidFill>
                  <a:srgbClr val="475569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End-to-end System Architecture &amp; Integration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PINN Neural Regressor &amp; Physics Loss Design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GitHub Repository &amp; Vercel Cloud Deployment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Project Documentation &amp; Technical Evaluation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4" y="1645920"/>
            <a:ext cx="2468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Jyotsna</a:t>
            </a:r>
          </a:p>
          <a:p>
            <a:pPr>
              <a:spcBef>
                <a:spcPts val="1000"/>
              </a:spcBef>
              <a:defRPr sz="1050" b="1">
                <a:solidFill>
                  <a:srgbClr val="475569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Safe Operating Envelope (SOE) 6-Axis Radar Visualizer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Explainable AI (XAI) Panel &amp; SHAP Risk Attribution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Telemetry Dashboard UI/UX &amp; Responsive Layout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User Experience &amp; Interactive Theme Styling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68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K Manoj</a:t>
            </a:r>
          </a:p>
          <a:p>
            <a:pPr>
              <a:spcBef>
                <a:spcPts val="1000"/>
              </a:spcBef>
              <a:defRPr sz="1050" b="1">
                <a:solidFill>
                  <a:srgbClr val="475569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Multi-Physics Aerodynamics (Drag &amp; Momentum Hover)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Electro-Thermal Battery Dynamics (Arrhenius ODEs)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4-State Extended Kalman Filter (EKF) Implementation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Energy &amp; Endurance Mathematical Forecasting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1645920"/>
            <a:ext cx="24688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Pothish Goud</a:t>
            </a:r>
          </a:p>
          <a:p>
            <a:pPr>
              <a:spcBef>
                <a:spcPts val="1000"/>
              </a:spcBef>
              <a:defRPr sz="1050" b="1">
                <a:solidFill>
                  <a:srgbClr val="475569"/>
                </a:solidFill>
              </a:defRPr>
            </a:pPr>
            <a:r>
              <a:t>Key Contributions: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3D Real-Time Digital Twin Visualizer (Three.js/WebGL)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Dual Leaflet GPS &amp; High-Definition Satellite Mapping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AI Voice Co-Pilot Engine with Chromium Audio Keep-Alive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Interactive Waypoint Route Planner &amp; PIP Camera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IEEE RAS HACKFUSION 2026 · THEME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Summary &amp; Live Evaluation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WHY DRONE-TWIN X WINS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Key Project Takeaways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100% Problem Statement Fulfillment: Solves all 6 requirements (Environmental models, Health, Energy, SOE, Autonomous decisions, and XAI).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Physics Regularized AI: Never crashes due to out-of-distribution black-box surprises.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Zero-Lag &amp; Accessible: Fully playable directly inside standard web browsers on laptops and mobile devices.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✔ Production-Grade Architecture: Clean modular code with automated CI/CD and public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LIVE ACCESS &amp; VERIFICATION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Explore the System Live</a:t>
            </a:r>
          </a:p>
          <a:p>
            <a:pPr>
              <a:spcBef>
                <a:spcPts val="1400"/>
              </a:spcBef>
              <a:defRPr sz="1250" b="1">
                <a:solidFill>
                  <a:srgbClr val="0F172A"/>
                </a:solidFill>
              </a:defRPr>
            </a:pPr>
            <a:r>
              <a:t>🚀 Live Web Deployment:</a:t>
            </a:r>
          </a:p>
          <a:p>
            <a:pPr>
              <a:spcBef>
                <a:spcPts val="200"/>
              </a:spcBef>
              <a:defRPr sz="1150" b="1">
                <a:solidFill>
                  <a:srgbClr val="0284C7"/>
                </a:solidFill>
              </a:defRPr>
            </a:pPr>
            <a:r>
              <a:t>https://physics-informed-drone-digital-twin.vercel.app/</a:t>
            </a:r>
          </a:p>
          <a:p>
            <a:pPr>
              <a:spcBef>
                <a:spcPts val="1400"/>
              </a:spcBef>
              <a:defRPr sz="1250" b="1">
                <a:solidFill>
                  <a:srgbClr val="0F172A"/>
                </a:solidFill>
              </a:defRPr>
            </a:pPr>
            <a:r>
              <a:t>💻 GitHub Source Code:</a:t>
            </a:r>
          </a:p>
          <a:p>
            <a:pPr>
              <a:spcBef>
                <a:spcPts val="200"/>
              </a:spcBef>
              <a:defRPr sz="1150" b="1">
                <a:solidFill>
                  <a:srgbClr val="0284C7"/>
                </a:solidFill>
              </a:defRPr>
            </a:pPr>
            <a:r>
              <a:t>https://github.com/shanmukha-del/Physics-Informed-Drone-Digital-Twin</a:t>
            </a:r>
          </a:p>
          <a:p>
            <a:pPr>
              <a:spcBef>
                <a:spcPts val="2400"/>
              </a:spcBef>
              <a:defRPr sz="22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Questions &amp; Demonstration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